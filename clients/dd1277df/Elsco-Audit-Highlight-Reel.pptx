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56" r:id="rId3"/>
    <p:sldId id="258" r:id="rId4"/>
    <p:sldId id="260" r:id="rId5"/>
    <p:sldId id="259" r:id="rId6"/>
    <p:sldId id="262" r:id="rId7"/>
    <p:sldId id="261" r:id="rId8"/>
    <p:sldId id="257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1" d="100"/>
          <a:sy n="61" d="100"/>
        </p:scale>
        <p:origin x="43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554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C80024-73D7-BE2B-1021-3B83E8B26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8472" y="-250521"/>
            <a:ext cx="14299026" cy="725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25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7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495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 READINESS AUDIT  ·  ELSCO TRANSFORMERS  ·  HIGHLIGHT REEL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91440" cy="146304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AFA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Disambiguation.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495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\ ˌdis-am-ˌbi-gyə-ˈwā-shən \  ·  noun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AFA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clarify (something ambiguous) especially by providing or considering additional information.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AFA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It's what Elsco needs </a:t>
            </a:r>
            <a:r>
              <a:rPr lang="en-US" sz="2800" b="1" i="1" dirty="0">
                <a:solidFill>
                  <a:srgbClr val="C495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495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lizmicik.com  ·  Find / Understand / Trust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PROOF #2  ·  ENGINE VARIANCE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gap is structural, not competitive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two years even the least capable LLM may ascertain Elsco's organization, products, and services easily. Today the variance below tells us we have a long way to go to reach that level of understanding. While many will say “I’ll wait,” everything I learned doing this audit says you understand the opportunity cost of missing structured 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Perplexity Sonar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2468880"/>
            <a:ext cx="7315200" cy="274320"/>
          </a:xfrm>
          <a:prstGeom prst="rect">
            <a:avLst/>
          </a:prstGeom>
          <a:solidFill>
            <a:srgbClr val="E7DDD0"/>
          </a:solidFill>
          <a:ln w="12700">
            <a:solidFill>
              <a:srgbClr val="E7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2468880"/>
            <a:ext cx="5486400" cy="274320"/>
          </a:xfrm>
          <a:prstGeom prst="rect">
            <a:avLst/>
          </a:prstGeom>
          <a:solidFill>
            <a:srgbClr val="5B7C5E"/>
          </a:solidFill>
          <a:ln w="12700">
            <a:solidFill>
              <a:srgbClr val="5B7C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0" y="2377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999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Gemini 3 Flash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3090672"/>
            <a:ext cx="7315200" cy="274320"/>
          </a:xfrm>
          <a:prstGeom prst="rect">
            <a:avLst/>
          </a:prstGeom>
          <a:solidFill>
            <a:srgbClr val="E7DDD0"/>
          </a:solidFill>
          <a:ln w="12700">
            <a:solidFill>
              <a:srgbClr val="E7DD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3090672"/>
            <a:ext cx="4681728" cy="274320"/>
          </a:xfrm>
          <a:prstGeom prst="rect">
            <a:avLst/>
          </a:prstGeom>
          <a:solidFill>
            <a:srgbClr val="8ABCBD"/>
          </a:solidFill>
          <a:ln w="12700">
            <a:solidFill>
              <a:srgbClr val="8ABC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0" y="29992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64%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621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 AI Overviews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960" y="3712464"/>
            <a:ext cx="7315200" cy="274320"/>
          </a:xfrm>
          <a:prstGeom prst="rect">
            <a:avLst/>
          </a:prstGeom>
          <a:solidFill>
            <a:srgbClr val="E7DDD0"/>
          </a:solidFill>
          <a:ln w="12700">
            <a:solidFill>
              <a:srgbClr val="E7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3712464"/>
            <a:ext cx="438912" cy="27432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0" y="36210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2428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ChatGPT (GPT-5.4)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08960" y="4334256"/>
            <a:ext cx="7315200" cy="274320"/>
          </a:xfrm>
          <a:prstGeom prst="rect">
            <a:avLst/>
          </a:prstGeom>
          <a:solidFill>
            <a:srgbClr val="E7DDD0"/>
          </a:solidFill>
          <a:ln w="12700">
            <a:solidFill>
              <a:srgbClr val="E7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4334256"/>
            <a:ext cx="292608" cy="27432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0" y="42428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864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Claude (Sonnet 4.6)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08960" y="4956048"/>
            <a:ext cx="7315200" cy="274320"/>
          </a:xfrm>
          <a:prstGeom prst="rect">
            <a:avLst/>
          </a:prstGeom>
          <a:solidFill>
            <a:srgbClr val="E7DDD0"/>
          </a:solidFill>
          <a:ln w="12700">
            <a:solidFill>
              <a:srgbClr val="E7DD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4956048"/>
            <a:ext cx="45720" cy="274320"/>
          </a:xfrm>
          <a:prstGeom prst="rect">
            <a:avLst/>
          </a:prstGeom>
          <a:solidFill>
            <a:srgbClr val="6B3D2E"/>
          </a:solidFill>
          <a:ln w="12700">
            <a:solidFill>
              <a:srgbClr val="6B3D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0" y="486460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1091672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73328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Retrieval-grounded engines find Elsco. Training-data-weighted engines don't yet. </a:t>
            </a:r>
            <a:r>
              <a:rPr lang="en-US" sz="1300" i="1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75-point gap is disambiguation manifesting in measurable engine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PROOF #3  ·  STRUCTURAL 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What's causing the Claude </a:t>
            </a:r>
            <a:r>
              <a:rPr lang="en-US" sz="3800" b="1" dirty="0" err="1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blindspot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structural realities. Both are disambiguation problems. Both are fixable.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49240" cy="3749040"/>
          </a:xfrm>
          <a:prstGeom prst="rect">
            <a:avLst/>
          </a:prstGeom>
          <a:solidFill>
            <a:srgbClr val="FFFFFF"/>
          </a:solidFill>
          <a:ln w="15875">
            <a:solidFill>
              <a:srgbClr val="6B3D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77440"/>
            <a:ext cx="146304" cy="3749040"/>
          </a:xfrm>
          <a:prstGeom prst="rect">
            <a:avLst/>
          </a:prstGeom>
          <a:solidFill>
            <a:srgbClr val="6B3D2E"/>
          </a:solidFill>
          <a:ln w="12700">
            <a:solidFill>
              <a:srgbClr val="6B3D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Bifurcated Entity Name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37947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ELSCO Transformers  ↔  The Electric Service Company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251960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Founded 1912. Indexed separately across BBB, ZoomInfo, Manta, Yellow Pages, NDT.org. The Organization schema’s alternateName, legalName, @id, sameAs fields don’t bridge the modern brand to the legacy mentions.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56235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Training-data-weighted engines never reconcile.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5349240" cy="3749040"/>
          </a:xfrm>
          <a:prstGeom prst="rect">
            <a:avLst/>
          </a:prstGeom>
          <a:solidFill>
            <a:srgbClr val="FFFFFF"/>
          </a:solidFill>
          <a:ln w="15875">
            <a:solidFill>
              <a:srgbClr val="5B7C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377440"/>
            <a:ext cx="146304" cy="3749040"/>
          </a:xfrm>
          <a:prstGeom prst="rect">
            <a:avLst/>
          </a:prstGeom>
          <a:solidFill>
            <a:srgbClr val="5B7C5E"/>
          </a:solidFill>
          <a:ln w="12700">
            <a:solidFill>
              <a:srgbClr val="5B7C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5B7C5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66560" y="32461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Schema Floor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66560" y="37947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Yoast WordPress minimums only.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4251960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274 URLs. WebPage + BreadcrumbList + WebSite — that’s it on most pages. No Product / Offer on KVA-spec product pages. No Service on emergency-replacement pages. No LocalBusiness on Cincinnati location. No Article + author across 75 blog posts.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56235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engines can’t extract what isn’t structurally disclosed.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lizmicik.com  ·  Find / Understand / Trust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TO CLOSE 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principles – Three layers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agents need information that is clear, complete, and consistent. The audit covers the gaps in each — and so does the framework.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91440" cy="365760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420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495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85292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 the agent’s language.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38912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Schema is precise machine-readable language. Humans find clarity and specificity dull; agents need it. The audit prescribes structured-data layers on the highest-leverage page templates.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468880"/>
            <a:ext cx="91440" cy="3657600"/>
          </a:xfrm>
          <a:prstGeom prst="rect">
            <a:avLst/>
          </a:prstGeom>
          <a:solidFill>
            <a:srgbClr val="4E7F80"/>
          </a:solidFill>
          <a:ln w="12700">
            <a:solidFill>
              <a:srgbClr val="4E7F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5420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4E7F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85292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754880" y="3886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Give them every detail.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438912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human knows that "M.D." means doctor; an agent needs knowsAbout schema to know it’s a pediatrician. The audit names the schema fields, the entity types, and the templates where they belong.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2468880"/>
            <a:ext cx="91440" cy="3657600"/>
          </a:xfrm>
          <a:prstGeom prst="rect">
            <a:avLst/>
          </a:prstGeom>
          <a:solidFill>
            <a:srgbClr val="5B7C5E"/>
          </a:solidFill>
          <a:ln w="12700">
            <a:solidFill>
              <a:srgbClr val="5B7C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1080" y="25420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5B7C5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41080" y="285292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Consistent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641080" y="3886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Repeat the facts everywhere.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41080" y="438912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Agents declare a fact when they see it repeated across surfaces. Without consistency they infer — and present half-truths as fact. The audit maps where Elsco’s entity story breaks across off-site surfaces.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lizmicik.com  ·  Find / Understand / Trust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THIS WORK PAYS 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578278" y="1280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16%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7000798" y="1280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54%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Accuracy triples when AI is given structured data.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GPT-4 question-answering accuracy when content is queried over a knowledge graph (54%) vs. raw SQL (16%).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data.world Benchmark  ·  Sequeda / Allemang / Jacob  ·  Nov 2023  ·  ACM GRADES/NDA  ·  arXiv 2311.07509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0" y="4846320"/>
            <a:ext cx="96012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6B3D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4937760"/>
            <a:ext cx="9235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“If you can even come close to tripling an agent’s accuracy using structured data, why wouldn’t you do it?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b="1" i="1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If you want them to get you right, write it right</a:t>
            </a:r>
            <a:r>
              <a:rPr lang="en-US" sz="1400" b="1" i="1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.”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Liz Micik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lizmicik.com  ·  Find / Understand / Trust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TO DO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quick wins.  Two critical issues.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Quick wins are dashboard-only or single-file edits. Critical issues take more work but unlock the biggest visibility lift.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1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FAF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91440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860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QUICK WIN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31720" y="2359152"/>
            <a:ext cx="9646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 named AI-crawler directives to robots.txt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2670048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Wildcard already permits all AI crawlers. Adding explicit named-bot Allow rules signals intentional AI-readability. Single-file edit.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36392"/>
            <a:ext cx="11091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FAF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136392"/>
            <a:ext cx="91440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3639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QUICK WIN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3209544"/>
            <a:ext cx="9646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 Cloudflare bot management for AI-crawler verification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31720" y="3520440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Confirm GPTBot, ClaudeBot, PerplexityBot, Google-Extended, Bytespider, Amazonbot, CCBot pass as Verified Bots. Dashboard verification only.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86784"/>
            <a:ext cx="11091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FAF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86784"/>
            <a:ext cx="91440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8678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QUICK WIN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4059936"/>
            <a:ext cx="9646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301 redirect the orphan URLs to their parent directories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31720" y="4370832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Four URLs sit at the site root that should nest under their parent. Each has a clear canonical home in the existing IA.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11091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FAF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837176"/>
            <a:ext cx="9144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37176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CRITICAL ISSUE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31720" y="4910328"/>
            <a:ext cx="9646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Bridge the two entity names in Organization schema onsite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331720" y="5221224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Expand alternateName beyond the acronym; add legalName and @id. Four fields together establish the bridge.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687568"/>
            <a:ext cx="11091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FAF8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687568"/>
            <a:ext cx="9144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6875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CRITICAL ISSUE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5760720"/>
            <a:ext cx="9646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Claim and update the two entity names in offsite directory listings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331720" y="6071616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Reconcile the listings on every directory so both names surface together. Standalone Directory Alignment Guide ships with this audit.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lizmicik.com  ·  Find / Understand / Trust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PROOF #1  ·  BENCHMARK SCORES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AI-readiness tools score Elsco.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independent third-party assessments. Gumshoe looks at content; Wordlift looks at technical structure. Both converged on the same diagnosis.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212080" cy="640080"/>
          </a:xfrm>
          <a:prstGeom prst="rect">
            <a:avLst/>
          </a:prstGeom>
          <a:solidFill>
            <a:srgbClr val="5B7C5E"/>
          </a:solidFill>
          <a:ln w="12700">
            <a:solidFill>
              <a:srgbClr val="5B7C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GUMSHOE SCORE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21208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7C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375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5B7C5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35%</a:t>
            </a:r>
            <a:endParaRPr lang="en-US" sz="100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Content perspective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Elsco shows up 35% of the time in AI answer conversations about transformers, beating every named competitor.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WORDLIFT SCORE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3108960"/>
            <a:ext cx="521208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495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3375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47%</a:t>
            </a:r>
            <a:endParaRPr lang="en-US" sz="10000" dirty="0"/>
          </a:p>
        </p:txBody>
      </p:sp>
      <p:sp>
        <p:nvSpPr>
          <p:cNvPr id="15" name="Text 13"/>
          <p:cNvSpPr/>
          <p:nvPr/>
        </p:nvSpPr>
        <p:spPr>
          <a:xfrm>
            <a:off x="6446520" y="4846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Technical structure perspective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12280" y="51663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Elsco's website structure is hard for AI and search engines to fully understand without more schema.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lizmicik.com  ·  Find / Understand / Trust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audit to implementation.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audit names the gaps. The Roadmap names the fixes — page-template inventory, schema field-and-value specs, semantic-HTML blueprints, sample schema with real Elsco content. Two ways to bring it 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49240" cy="594360"/>
          </a:xfrm>
          <a:prstGeom prst="rect">
            <a:avLst/>
          </a:prstGeom>
          <a:solidFill>
            <a:srgbClr val="5B7C5E"/>
          </a:solidFill>
          <a:ln w="12700">
            <a:solidFill>
              <a:srgbClr val="5B7C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ROADMAP TO ELSCO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349240" cy="2788920"/>
          </a:xfrm>
          <a:prstGeom prst="rect">
            <a:avLst/>
          </a:prstGeom>
          <a:solidFill>
            <a:srgbClr val="FFFFFF"/>
          </a:solidFill>
          <a:ln w="15875">
            <a:solidFill>
              <a:srgbClr val="5B7C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461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Roadmap to Elsco.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06908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separate engagement, delivered to your team. Web FX implements directly from the blueprint — clean handoff, build to spec. Best when Web FX has the bandwidth to execute on a clear plan.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0749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C5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 handoff.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3949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C5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lizmicik.com/#contact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468880"/>
            <a:ext cx="5349240" cy="594360"/>
          </a:xfrm>
          <a:prstGeom prst="rect">
            <a:avLst/>
          </a:prstGeom>
          <a:solidFill>
            <a:srgbClr val="6B3D2E"/>
          </a:solidFill>
          <a:ln w="12700">
            <a:solidFill>
              <a:srgbClr val="6B3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468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ROADMAP WITH WEB FX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3063240"/>
            <a:ext cx="5349240" cy="2788920"/>
          </a:xfrm>
          <a:prstGeom prst="rect">
            <a:avLst/>
          </a:prstGeom>
          <a:solidFill>
            <a:srgbClr val="FFFFFF"/>
          </a:solidFill>
          <a:ln w="15875">
            <a:solidFill>
              <a:srgbClr val="6B3D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2461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Roadmap with Web FX.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406908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separate engagement, delivered alongside Web FX. I sit beside their build team as the agentic-web strategy partner. Implementation stays with them. Best when Web FX wants a strategy co-pilot on a layer that’s evolving fast.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50749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Strategy alongside.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53949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lizmicik.com/#contact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Disambiguation is the destination.  The Roadmap is the route.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48640" y="22860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LET’S TALK</a:t>
            </a:r>
            <a:endParaRPr lang="en-US" sz="1400" dirty="0"/>
          </a:p>
        </p:txBody>
      </p:sp>
      <p:sp>
        <p:nvSpPr>
          <p:cNvPr id="3" name="Headline"/>
          <p:cNvSpPr/>
          <p:nvPr/>
        </p:nvSpPr>
        <p:spPr>
          <a:xfrm>
            <a:off x="548640" y="2697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C303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Disambiguation is fixable.</a:t>
            </a:r>
            <a:endParaRPr lang="en-US" sz="6000" dirty="0"/>
          </a:p>
        </p:txBody>
      </p:sp>
      <p:sp>
        <p:nvSpPr>
          <p:cNvPr id="4" name="Subhead"/>
          <p:cNvSpPr/>
          <p:nvPr/>
        </p:nvSpPr>
        <p:spPr>
          <a:xfrm>
            <a:off x="1828800" y="3703320"/>
            <a:ext cx="853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 FX is a strong partner. If they want a strategy co-pilot for this layer, </a:t>
            </a:r>
            <a:br>
              <a:rPr lang="en-US" sz="18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</a:br>
            <a:r>
              <a:rPr lang="en-US" sz="1800" dirty="0">
                <a:solidFill>
                  <a:srgbClr val="545B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 know where to find me.</a:t>
            </a:r>
            <a:endParaRPr lang="en-US" sz="1800" dirty="0"/>
          </a:p>
        </p:txBody>
      </p:sp>
      <p:sp>
        <p:nvSpPr>
          <p:cNvPr id="5" name="Contact"/>
          <p:cNvSpPr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3D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info@lizmicik.com  ·  lizmicik.com/contact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1117</Words>
  <Application>Microsoft Office PowerPoint</Application>
  <PresentationFormat>Widescreen</PresentationFormat>
  <Paragraphs>118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lizmicik.com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Readiness Audit — ELSCO Transformers — Highlight Reel v4</dc:title>
  <dc:subject>PptxGenJS Presentation</dc:subject>
  <dc:creator>Liz Micik</dc:creator>
  <cp:lastModifiedBy>Liz Micik</cp:lastModifiedBy>
  <cp:revision>3</cp:revision>
  <dcterms:created xsi:type="dcterms:W3CDTF">2026-05-02T15:50:16Z</dcterms:created>
  <dcterms:modified xsi:type="dcterms:W3CDTF">2026-05-03T15:13:24Z</dcterms:modified>
</cp:coreProperties>
</file>